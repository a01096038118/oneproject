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2C6EE-9824-A0D8-B376-65222A397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C0D682-3B2F-769C-5521-1BD8C618C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D0E9FB-7883-0AB7-A110-4AC595EC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46E8E3-68DF-0589-9EBA-25CBABA4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30CA81-FD6E-152F-D19E-B259D631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572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F6119-79E3-F013-94C6-BB3CF19B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AF8CF-F2C9-0A62-1EB9-119D4E4ED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D33EC3-4B2F-4549-54D4-9C8DA857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32C62F-FA48-C07D-EAB1-881098FC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852A4-796C-D078-9D61-586765BF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52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7FCCC-690B-8661-D051-D02D2DDC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E1C5E0-FE06-1190-E71D-165968067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CAD740-0584-D41D-32B2-0DB19F5F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02E1D1-6E19-7847-784F-7AB7B869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620CB-75CE-2921-37BF-6C066A24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4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8CC04-237C-025A-27DE-3863BB89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CFB930-FD28-9E18-0B80-5BE012354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E5DFBB-237F-C5DF-9B64-B1D84E096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9703E3-533B-016B-404F-8AAAF62B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18AA40-ADFA-C624-DE1B-F8373D71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79ADF7-5613-02BA-4095-86886ECD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5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63136-C52B-7C41-BF8E-2E4E0268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46F83-137A-C18E-580B-6420B3A11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98F2DB-2BBA-A5A2-B7E5-251D5A01F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707525-8F0F-CE54-53A3-BECEAFC8F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C6812C-191F-E70D-38B0-918C46401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8B4107-A839-34DF-7518-1201CFB9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249F37-BAD3-9FC9-D97A-E3BA708B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819125-858A-623A-A114-D884A0C2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65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DB511-CBF3-E564-0456-D631F34A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525371-A29C-459E-5666-3498F411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5EBA00-5A4B-8D44-C523-CCEF5B7D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0926E0-43A4-2011-6098-A53AD399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2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36BDB3-206F-C80A-21FA-6B6F42BF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00A4A5-6885-2900-E075-04BB34FD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78A0E-7BC5-ED97-8CA1-C87C830E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3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0CFAF-BB9E-C454-BDB9-098A5E4B0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FBF86-F85F-7716-3901-19F6867D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AA5D32-F1C4-64E3-072C-716DF1FB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7CCC45-0F2C-65F4-174C-29241717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3BF02-54DC-9266-C632-DF837B37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375349-322E-E811-C351-B4CB7BDC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4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55CE6-CC82-E537-2B19-0DA18D54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D24537-C32B-C304-DBCE-05693363B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6F7D39-E01F-4A16-D3C0-62A0777FB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C9C83D-597D-8F70-1013-E0A56D94E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C3DB05-FA8F-7481-80D4-F893ACE6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D5FB71-898D-E652-77EB-ADCBA614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4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A1260-63AD-C973-BDEA-62AE961B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E6EEFC-D7A5-7B8E-0B5D-EDFC2DBC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B7AE8-A6E7-3F7F-FED1-EAA166C8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87D6B-E6BE-4F3D-6F51-35EA4D98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9F1D7-2E69-EFD7-1346-53D41051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9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37B18A-E6E4-E462-3103-3BE2A8F22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1AC01-D19D-C370-979C-24490149A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594E2-5652-72EE-3375-F3E42C65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AE998D-5C2F-CFD1-50BE-7D1EAAC3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E57759-A780-A98B-E74B-D1177F56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47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B6F6A0-3CAF-18DD-47C5-DDCC6F4B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9F2C2D-AA82-0A7C-ECB2-ED7CE3435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0DE25-520D-910C-7438-79304A90B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1D5A3-07DA-4EF3-973F-132B1C26635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5FFEA0-B2A9-A928-4D23-CC6B1771B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6D204-86A5-1D6B-1C4A-790274574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5487C-3F52-4FB0-998F-C38442E38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79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C8319626-99F4-080F-69F3-926A7CDCF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8100" y="300038"/>
            <a:ext cx="9144000" cy="461962"/>
          </a:xfrm>
        </p:spPr>
        <p:txBody>
          <a:bodyPr/>
          <a:lstStyle/>
          <a:p>
            <a:r>
              <a:rPr lang="en-US" altLang="ko-KR" b="1" dirty="0"/>
              <a:t>1. YOLO </a:t>
            </a:r>
            <a:r>
              <a:rPr lang="ko-KR" altLang="en-US" b="1" dirty="0"/>
              <a:t>학습 기본 개념 설명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71E58-8A93-7290-3691-7BD1139EA85D}"/>
              </a:ext>
            </a:extLst>
          </p:cNvPr>
          <p:cNvSpPr txBox="1"/>
          <p:nvPr/>
        </p:nvSpPr>
        <p:spPr>
          <a:xfrm>
            <a:off x="1308100" y="1009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Confidence(</a:t>
            </a:r>
            <a:r>
              <a:rPr lang="ko-KR" altLang="en-US" b="1" dirty="0"/>
              <a:t>신뢰도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2EA61-3154-3885-225A-FB093B75974F}"/>
              </a:ext>
            </a:extLst>
          </p:cNvPr>
          <p:cNvSpPr txBox="1"/>
          <p:nvPr/>
        </p:nvSpPr>
        <p:spPr>
          <a:xfrm>
            <a:off x="1447800" y="1595397"/>
            <a:ext cx="367030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YOLO : </a:t>
            </a:r>
            <a:r>
              <a:rPr lang="ko-KR" altLang="en-US" dirty="0"/>
              <a:t>지금 이 박스를 쳤는데</a:t>
            </a:r>
            <a:r>
              <a:rPr lang="en-US" altLang="ko-KR" dirty="0"/>
              <a:t>, </a:t>
            </a:r>
            <a:r>
              <a:rPr lang="ko-KR" altLang="en-US" dirty="0"/>
              <a:t>내 생각엔 </a:t>
            </a:r>
            <a:r>
              <a:rPr lang="en-US" altLang="ko-KR" dirty="0"/>
              <a:t>95% </a:t>
            </a:r>
            <a:r>
              <a:rPr lang="ko-KR" altLang="en-US" dirty="0"/>
              <a:t>확률로 </a:t>
            </a:r>
            <a:r>
              <a:rPr lang="ko-KR" altLang="en-US" b="1" dirty="0"/>
              <a:t>개</a:t>
            </a:r>
            <a:r>
              <a:rPr lang="en-US" altLang="ko-KR" b="1" dirty="0"/>
              <a:t>(Dog)</a:t>
            </a:r>
            <a:r>
              <a:rPr lang="ko-KR" altLang="en-US" dirty="0"/>
              <a:t>야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C5F9E82-65F1-B2F9-7B9C-B1A97FD22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1393466"/>
            <a:ext cx="3810000" cy="1287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단순히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YOLO의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주장일 뿐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판단이 맞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는지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틀린지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여부는 우리가 직접 확인해야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함.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63EA7-FB2E-1840-ECAF-D0F6259594F2}"/>
              </a:ext>
            </a:extLst>
          </p:cNvPr>
          <p:cNvSpPr txBox="1"/>
          <p:nvPr/>
        </p:nvSpPr>
        <p:spPr>
          <a:xfrm>
            <a:off x="1047750" y="5343079"/>
            <a:ext cx="10096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 Confidence Threshold</a:t>
            </a:r>
            <a:r>
              <a:rPr lang="ko-KR" altLang="en-US" b="1" dirty="0"/>
              <a:t>를 </a:t>
            </a:r>
            <a:r>
              <a:rPr lang="en-US" altLang="ko-KR" b="1" dirty="0"/>
              <a:t>0.9</a:t>
            </a:r>
            <a:r>
              <a:rPr lang="ko-KR" altLang="en-US" b="1" dirty="0"/>
              <a:t>로 설정하면</a:t>
            </a:r>
            <a:r>
              <a:rPr lang="en-US" altLang="ko-KR" b="1" dirty="0"/>
              <a:t>:</a:t>
            </a:r>
            <a:r>
              <a:rPr lang="ko-KR" altLang="en-US" dirty="0"/>
              <a:t> 모델이 </a:t>
            </a:r>
            <a:r>
              <a:rPr lang="en-US" altLang="ko-KR" dirty="0"/>
              <a:t>90% </a:t>
            </a:r>
            <a:r>
              <a:rPr lang="ko-KR" altLang="en-US" dirty="0"/>
              <a:t>이상 확신하는 것만</a:t>
            </a:r>
            <a:r>
              <a:rPr lang="en-US" altLang="ko-KR" dirty="0"/>
              <a:t>. (</a:t>
            </a:r>
            <a:r>
              <a:rPr lang="ko-KR" altLang="en-US" dirty="0"/>
              <a:t>아주 </a:t>
            </a:r>
            <a:r>
              <a:rPr lang="ko-KR" altLang="en-US" dirty="0" err="1"/>
              <a:t>깐깐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 Confidence Threshold</a:t>
            </a:r>
            <a:r>
              <a:rPr lang="ko-KR" altLang="en-US" b="1" dirty="0"/>
              <a:t>를 </a:t>
            </a:r>
            <a:r>
              <a:rPr lang="en-US" altLang="ko-KR" b="1" dirty="0"/>
              <a:t>0.2</a:t>
            </a:r>
            <a:r>
              <a:rPr lang="ko-KR" altLang="en-US" b="1" dirty="0"/>
              <a:t>로 설정하면</a:t>
            </a:r>
            <a:r>
              <a:rPr lang="en-US" altLang="ko-KR" b="1" dirty="0"/>
              <a:t>:</a:t>
            </a:r>
            <a:r>
              <a:rPr lang="ko-KR" altLang="en-US" dirty="0"/>
              <a:t> 모델이 </a:t>
            </a:r>
            <a:r>
              <a:rPr lang="en-US" altLang="ko-KR" dirty="0"/>
              <a:t>20%</a:t>
            </a:r>
            <a:r>
              <a:rPr lang="ko-KR" altLang="en-US" dirty="0"/>
              <a:t>만 확신해도 일단 모두 다</a:t>
            </a:r>
            <a:r>
              <a:rPr lang="en-US" altLang="ko-KR" dirty="0"/>
              <a:t>. (</a:t>
            </a:r>
            <a:r>
              <a:rPr lang="ko-KR" altLang="en-US" dirty="0"/>
              <a:t>매우 관대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6AA52-5472-4A09-3255-AB02E26A3C37}"/>
              </a:ext>
            </a:extLst>
          </p:cNvPr>
          <p:cNvSpPr txBox="1"/>
          <p:nvPr/>
        </p:nvSpPr>
        <p:spPr>
          <a:xfrm>
            <a:off x="1454150" y="2772726"/>
            <a:ext cx="5091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일단 </a:t>
            </a:r>
            <a:r>
              <a:rPr lang="en-US" altLang="ko-KR" dirty="0"/>
              <a:t>YOLO </a:t>
            </a:r>
            <a:r>
              <a:rPr lang="ko-KR" altLang="en-US" dirty="0"/>
              <a:t>모델에게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＂</a:t>
            </a:r>
            <a:r>
              <a:rPr lang="ko-KR" altLang="en-US" dirty="0"/>
              <a:t>진짜 완벽하게 확신하는 것만 가져와</a:t>
            </a:r>
            <a:r>
              <a:rPr lang="en-US" altLang="ko-KR" dirty="0"/>
              <a:t>!”</a:t>
            </a:r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＂</a:t>
            </a:r>
            <a:r>
              <a:rPr lang="ko-KR" altLang="en-US" dirty="0"/>
              <a:t>알아서 적당히 확신하는 건 다 가져와</a:t>
            </a:r>
            <a:r>
              <a:rPr lang="en-US" altLang="ko-KR" dirty="0"/>
              <a:t>“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r>
              <a:rPr lang="ko-KR" altLang="en-US" dirty="0"/>
              <a:t>이렇게 </a:t>
            </a:r>
            <a:r>
              <a:rPr lang="ko-KR" altLang="en-US" b="1" dirty="0"/>
              <a:t>커트라인</a:t>
            </a:r>
            <a:r>
              <a:rPr lang="en-US" altLang="ko-KR" b="1" dirty="0"/>
              <a:t>(</a:t>
            </a:r>
            <a:r>
              <a:rPr lang="ko-KR" altLang="en-US" b="1" dirty="0"/>
              <a:t>필터링</a:t>
            </a:r>
            <a:r>
              <a:rPr lang="en-US" altLang="ko-KR" b="1" dirty="0"/>
              <a:t>)</a:t>
            </a:r>
            <a:r>
              <a:rPr lang="ko-KR" altLang="en-US" b="1" dirty="0"/>
              <a:t>을 긋는 것</a:t>
            </a:r>
            <a:r>
              <a:rPr lang="ko-KR" altLang="en-US" dirty="0"/>
              <a:t>이 바로</a:t>
            </a:r>
            <a:endParaRPr lang="en-US" altLang="ko-KR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7309A16-B5D4-8E71-1EF5-528394205BCD}"/>
              </a:ext>
            </a:extLst>
          </p:cNvPr>
          <p:cNvCxnSpPr/>
          <p:nvPr/>
        </p:nvCxnSpPr>
        <p:spPr>
          <a:xfrm>
            <a:off x="5346700" y="2120562"/>
            <a:ext cx="615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330D871-B1CB-F135-394C-EC724B1402BA}"/>
              </a:ext>
            </a:extLst>
          </p:cNvPr>
          <p:cNvSpPr txBox="1"/>
          <p:nvPr/>
        </p:nvSpPr>
        <p:spPr>
          <a:xfrm>
            <a:off x="4489296" y="9691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모델의 </a:t>
            </a:r>
            <a:r>
              <a:rPr lang="en-US" altLang="ko-KR" dirty="0"/>
              <a:t>'</a:t>
            </a:r>
            <a:r>
              <a:rPr lang="ko-KR" altLang="en-US" dirty="0"/>
              <a:t>자신감</a:t>
            </a:r>
            <a:r>
              <a:rPr lang="en-US" altLang="ko-KR" dirty="0"/>
              <a:t>'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DFE08-BDDF-381E-3F72-A1C565F9A5A9}"/>
              </a:ext>
            </a:extLst>
          </p:cNvPr>
          <p:cNvSpPr txBox="1"/>
          <p:nvPr/>
        </p:nvSpPr>
        <p:spPr>
          <a:xfrm>
            <a:off x="7741735" y="3688577"/>
            <a:ext cx="2843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	 </a:t>
            </a:r>
            <a:r>
              <a:rPr lang="ko-KR" altLang="en-US" sz="2000" b="1" dirty="0"/>
              <a:t>기준</a:t>
            </a:r>
            <a:endParaRPr lang="en-US" altLang="ko-KR" sz="2000" b="1" dirty="0"/>
          </a:p>
          <a:p>
            <a:r>
              <a:rPr lang="en-US" altLang="ko-KR" sz="2000" b="1" dirty="0"/>
              <a:t>Confidence Threshold</a:t>
            </a:r>
            <a:endParaRPr lang="ko-KR" altLang="en-US" sz="2000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D46D481-D063-CAAC-E4D0-13C08BAFE0A7}"/>
              </a:ext>
            </a:extLst>
          </p:cNvPr>
          <p:cNvSpPr/>
          <p:nvPr/>
        </p:nvSpPr>
        <p:spPr>
          <a:xfrm>
            <a:off x="6657276" y="3851590"/>
            <a:ext cx="858334" cy="49738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268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A0325-87A0-8569-95E2-08FC286E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454025"/>
            <a:ext cx="10375900" cy="366713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2. </a:t>
            </a:r>
            <a:r>
              <a:rPr lang="ko-KR" altLang="en-US" sz="2400" b="1" dirty="0"/>
              <a:t>정확도와 </a:t>
            </a:r>
            <a:r>
              <a:rPr lang="ko-KR" altLang="en-US" sz="2400" b="1" dirty="0" err="1"/>
              <a:t>재현율</a:t>
            </a:r>
            <a:r>
              <a:rPr lang="ko-KR" altLang="en-US" sz="2400" b="1" dirty="0"/>
              <a:t> 그리고 </a:t>
            </a:r>
            <a:r>
              <a:rPr lang="en-US" altLang="ko-KR" sz="2400" b="1" dirty="0"/>
              <a:t>Confidence Threshold </a:t>
            </a:r>
            <a:r>
              <a:rPr lang="ko-KR" altLang="en-US" sz="2400" b="1" dirty="0"/>
              <a:t>과의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25C1FF-1338-BDD9-3DAF-3677A8333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113170"/>
            <a:ext cx="11010900" cy="15300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900" b="1" dirty="0"/>
              <a:t>우선 개념부터</a:t>
            </a:r>
            <a:r>
              <a:rPr lang="en-US" altLang="ko-KR" sz="1900" b="1" dirty="0"/>
              <a:t>!</a:t>
            </a:r>
          </a:p>
          <a:p>
            <a:pPr>
              <a:lnSpc>
                <a:spcPct val="200000"/>
              </a:lnSpc>
            </a:pPr>
            <a:r>
              <a:rPr lang="ko-KR" altLang="en-US" sz="1900" b="1" dirty="0"/>
              <a:t>정확도</a:t>
            </a:r>
            <a:r>
              <a:rPr lang="en-US" altLang="ko-KR" sz="1900" b="1" dirty="0"/>
              <a:t>(Precision):</a:t>
            </a:r>
            <a:r>
              <a:rPr lang="ko-KR" altLang="en-US" sz="1900" dirty="0"/>
              <a:t> </a:t>
            </a:r>
            <a:r>
              <a:rPr lang="en-US" altLang="ko-KR" sz="1900" dirty="0"/>
              <a:t>"</a:t>
            </a:r>
            <a:r>
              <a:rPr lang="ko-KR" altLang="en-US" sz="1900" dirty="0"/>
              <a:t>모델이 </a:t>
            </a:r>
            <a:r>
              <a:rPr lang="ko-KR" altLang="en-US" sz="1900" dirty="0" err="1"/>
              <a:t>쳐놓은</a:t>
            </a:r>
            <a:r>
              <a:rPr lang="ko-KR" altLang="en-US" sz="1900" dirty="0"/>
              <a:t> 박스</a:t>
            </a:r>
            <a:r>
              <a:rPr lang="en-US" altLang="ko-KR" sz="1900" dirty="0"/>
              <a:t>(</a:t>
            </a:r>
            <a:r>
              <a:rPr lang="ko-KR" altLang="en-US" sz="1900" dirty="0"/>
              <a:t>예</a:t>
            </a:r>
            <a:r>
              <a:rPr lang="en-US" altLang="ko-KR" sz="1900" dirty="0"/>
              <a:t>: 5</a:t>
            </a:r>
            <a:r>
              <a:rPr lang="ko-KR" altLang="en-US" sz="1900" dirty="0"/>
              <a:t>개</a:t>
            </a:r>
            <a:r>
              <a:rPr lang="en-US" altLang="ko-KR" sz="1900" dirty="0"/>
              <a:t>) </a:t>
            </a:r>
            <a:r>
              <a:rPr lang="ko-KR" altLang="en-US" sz="1900" dirty="0"/>
              <a:t>중에 </a:t>
            </a:r>
            <a:r>
              <a:rPr lang="ko-KR" altLang="en-US" sz="1900" b="1" dirty="0"/>
              <a:t>진짜 정답은 몇 개</a:t>
            </a:r>
            <a:r>
              <a:rPr lang="ko-KR" altLang="en-US" sz="1900" dirty="0"/>
              <a:t>인지 비율</a:t>
            </a:r>
            <a:r>
              <a:rPr lang="en-US" altLang="ko-KR" sz="1900" dirty="0"/>
              <a:t>(</a:t>
            </a:r>
            <a:r>
              <a:rPr lang="ko-KR" altLang="en-US" sz="1900" dirty="0"/>
              <a:t>모델이 걸러낸 거만</a:t>
            </a:r>
            <a:r>
              <a:rPr lang="en-US" altLang="ko-KR" sz="1900" dirty="0"/>
              <a:t>)</a:t>
            </a:r>
            <a:endParaRPr lang="ko-KR" altLang="en-US" sz="1900" dirty="0"/>
          </a:p>
          <a:p>
            <a:pPr>
              <a:lnSpc>
                <a:spcPct val="200000"/>
              </a:lnSpc>
            </a:pPr>
            <a:r>
              <a:rPr lang="ko-KR" altLang="en-US" sz="1900" b="1" dirty="0" err="1"/>
              <a:t>재현율</a:t>
            </a:r>
            <a:r>
              <a:rPr lang="en-US" altLang="ko-KR" sz="1900" b="1" dirty="0"/>
              <a:t>(Recall)</a:t>
            </a:r>
            <a:r>
              <a:rPr lang="ko-KR" altLang="en-US" sz="1900" dirty="0"/>
              <a:t> </a:t>
            </a:r>
            <a:r>
              <a:rPr lang="en-US" altLang="ko-KR" sz="1900" dirty="0"/>
              <a:t>: </a:t>
            </a:r>
            <a:r>
              <a:rPr lang="ko-KR" altLang="en-US" sz="1900" dirty="0"/>
              <a:t>전체 정답지</a:t>
            </a:r>
            <a:r>
              <a:rPr lang="en-US" altLang="ko-KR" sz="1900" dirty="0"/>
              <a:t>(10</a:t>
            </a:r>
            <a:r>
              <a:rPr lang="ko-KR" altLang="en-US" sz="1900" dirty="0"/>
              <a:t>개</a:t>
            </a:r>
            <a:r>
              <a:rPr lang="en-US" altLang="ko-KR" sz="1900" dirty="0"/>
              <a:t>)</a:t>
            </a:r>
            <a:r>
              <a:rPr lang="ko-KR" altLang="en-US" sz="1900" dirty="0"/>
              <a:t>에서</a:t>
            </a:r>
            <a:r>
              <a:rPr lang="en-US" altLang="ko-KR" sz="1900" dirty="0"/>
              <a:t>, </a:t>
            </a:r>
            <a:r>
              <a:rPr lang="ko-KR" altLang="en-US" sz="1900" dirty="0"/>
              <a:t>모델이 그중 몇 개 성공했는지를 나타내는 비율</a:t>
            </a:r>
            <a:endParaRPr lang="en-US" altLang="ko-KR" sz="1900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476ED63-271F-420A-007B-D3118DB9BD18}"/>
              </a:ext>
            </a:extLst>
          </p:cNvPr>
          <p:cNvSpPr/>
          <p:nvPr/>
        </p:nvSpPr>
        <p:spPr>
          <a:xfrm>
            <a:off x="4315522" y="4047535"/>
            <a:ext cx="154837" cy="2345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C4C664E-C44D-EF8F-3A3C-924ADE93A695}"/>
              </a:ext>
            </a:extLst>
          </p:cNvPr>
          <p:cNvGrpSpPr/>
          <p:nvPr/>
        </p:nvGrpSpPr>
        <p:grpSpPr>
          <a:xfrm>
            <a:off x="747751" y="2635839"/>
            <a:ext cx="8706230" cy="3939540"/>
            <a:chOff x="736600" y="2613537"/>
            <a:chExt cx="8706230" cy="393954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1A33C22F-DD54-E9C9-394A-9CE231068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00" y="2613537"/>
              <a:ext cx="8706230" cy="3939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커트라인(</a:t>
              </a: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Confidence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Threshold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)을 높이면 (까다롭게):</a:t>
              </a:r>
              <a:endPara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lvl="1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endParaRPr>
            </a:p>
            <a:p>
              <a:pPr marL="800100" lvl="1" indent="-342900" eaLnBrk="0" fontAlgn="base" latinLnBrk="0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정밀도(Precision)는 상승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      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(진짜 확실한 것만 골</a:t>
              </a:r>
              <a:r>
                <a:rPr kumimoji="0" lang="ko-KR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라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틀릴 확률 적음)</a:t>
              </a:r>
              <a:endPara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endParaRPr>
            </a:p>
            <a:p>
              <a:pPr marL="800100" lvl="1" indent="-342900" eaLnBrk="0" fontAlgn="base" latinLnBrk="0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</a:t>
              </a:r>
              <a:endParaRPr lang="en-US" altLang="ko-KR" b="1" dirty="0">
                <a:latin typeface="Arial Unicode MS"/>
              </a:endParaRPr>
            </a:p>
            <a:p>
              <a:pPr marL="800100" lvl="1" indent="-342900" eaLnBrk="0" fontAlgn="base" latinLnBrk="0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재현율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(</a:t>
              </a: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Recall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)은 하락 </a:t>
              </a: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            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(애매한 </a:t>
              </a:r>
              <a:r>
                <a:rPr kumimoji="0" lang="ko-KR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건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다 </a:t>
              </a:r>
              <a:r>
                <a:rPr kumimoji="0" lang="ko-KR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쳐내</a:t>
              </a:r>
              <a:r>
                <a:rPr kumimoji="0" lang="en-US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!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 실제 정답임에도 놓</a:t>
              </a:r>
              <a:r>
                <a:rPr kumimoji="0" lang="ko-KR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침</a:t>
              </a:r>
              <a:r>
                <a:rPr kumimoji="0" lang="ko-KR" altLang="ko-KR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Unicode MS"/>
                </a:rPr>
                <a:t>) </a:t>
              </a:r>
              <a:endPara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endParaRPr>
            </a:p>
            <a:p>
              <a:pPr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커트라인을 낮추면 (관대하게):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457200" marR="0" lvl="1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정밀도(Precision)는 </a:t>
              </a:r>
              <a:r>
                <a:rPr lang="ko-KR" altLang="en-US" b="1" dirty="0">
                  <a:latin typeface="Arial" panose="020B0604020202020204" pitchFamily="34" charset="0"/>
                </a:rPr>
                <a:t>하락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     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(확실하지 않은 것도 다 가져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와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오답이 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많이 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섞임)</a:t>
              </a:r>
              <a:b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457200" marR="0" lvl="1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 </a:t>
              </a: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재현율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(</a:t>
              </a:r>
              <a:r>
                <a:rPr kumimoji="0" lang="ko-KR" altLang="ko-KR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Recall</a:t>
              </a:r>
              <a:r>
                <a:rPr kumimoji="0" lang="ko-KR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)은 </a:t>
              </a:r>
              <a:r>
                <a:rPr kumimoji="0" lang="ko-KR" alt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상승</a:t>
              </a:r>
              <a:r>
                <a: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           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(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이것저것 다 박스를 치니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실제로 </a:t>
              </a:r>
              <a:endPara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lvl="8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         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정답인 것들을 많이 잡아냄)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9810C23B-3207-B323-B8DE-DC91936F5BFB}"/>
                </a:ext>
              </a:extLst>
            </p:cNvPr>
            <p:cNvSpPr/>
            <p:nvPr/>
          </p:nvSpPr>
          <p:spPr>
            <a:xfrm>
              <a:off x="4300651" y="5158939"/>
              <a:ext cx="154837" cy="2345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화살표: 위쪽 9">
              <a:extLst>
                <a:ext uri="{FF2B5EF4-FFF2-40B4-BE49-F238E27FC236}">
                  <a16:creationId xmlns:a16="http://schemas.microsoft.com/office/drawing/2014/main" id="{C4FBA91F-07C2-BCD4-0C32-8B6D4F5A2484}"/>
                </a:ext>
              </a:extLst>
            </p:cNvPr>
            <p:cNvSpPr/>
            <p:nvPr/>
          </p:nvSpPr>
          <p:spPr>
            <a:xfrm>
              <a:off x="4300651" y="3523787"/>
              <a:ext cx="154837" cy="234536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" name="화살표: 위쪽 10">
            <a:extLst>
              <a:ext uri="{FF2B5EF4-FFF2-40B4-BE49-F238E27FC236}">
                <a16:creationId xmlns:a16="http://schemas.microsoft.com/office/drawing/2014/main" id="{DFEFCDA5-7B1B-BEFB-14FD-FE27E9BE926B}"/>
              </a:ext>
            </a:extLst>
          </p:cNvPr>
          <p:cNvSpPr/>
          <p:nvPr/>
        </p:nvSpPr>
        <p:spPr>
          <a:xfrm>
            <a:off x="4329751" y="5700311"/>
            <a:ext cx="154837" cy="23453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B8E15-0929-222E-E721-64E220FBAEC1}"/>
              </a:ext>
            </a:extLst>
          </p:cNvPr>
          <p:cNvSpPr txBox="1"/>
          <p:nvPr/>
        </p:nvSpPr>
        <p:spPr>
          <a:xfrm>
            <a:off x="9021336" y="3847176"/>
            <a:ext cx="2587083" cy="8697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모든 값들이 적절하게 조화를 </a:t>
            </a:r>
            <a:r>
              <a:rPr lang="ko-KR" altLang="en-US" b="1" dirty="0" err="1"/>
              <a:t>이루는게</a:t>
            </a:r>
            <a:r>
              <a:rPr lang="ko-KR" altLang="en-US" b="1" dirty="0"/>
              <a:t> 중요</a:t>
            </a:r>
            <a:r>
              <a:rPr lang="en-US" altLang="ko-KR" b="1" dirty="0"/>
              <a:t>!!!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1297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32526-1A1C-0106-28B9-31488C20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82368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3. </a:t>
            </a:r>
            <a:r>
              <a:rPr lang="ko-KR" altLang="en-US" sz="2400" b="1" dirty="0"/>
              <a:t>최적의 균형점 찾기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96FDF-ADD6-8F4E-8A5C-EE961991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03" y="2107576"/>
            <a:ext cx="9177455" cy="43852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9F0EA-5854-EDA1-84ED-05FEEF2C12DD}"/>
              </a:ext>
            </a:extLst>
          </p:cNvPr>
          <p:cNvSpPr txBox="1"/>
          <p:nvPr/>
        </p:nvSpPr>
        <p:spPr>
          <a:xfrm>
            <a:off x="972943" y="1006503"/>
            <a:ext cx="1038085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Precision</a:t>
            </a:r>
            <a:r>
              <a:rPr lang="ko-KR" altLang="en-US" dirty="0"/>
              <a:t>과 </a:t>
            </a:r>
            <a:r>
              <a:rPr lang="en-US" altLang="ko-KR" dirty="0"/>
              <a:t>Recall</a:t>
            </a:r>
            <a:r>
              <a:rPr lang="ko-KR" altLang="en-US" dirty="0"/>
              <a:t>은 서로 </a:t>
            </a:r>
            <a:r>
              <a:rPr lang="ko-KR" altLang="en-US" b="1" dirty="0"/>
              <a:t>상충</a:t>
            </a:r>
            <a:r>
              <a:rPr lang="en-US" altLang="ko-KR" b="1" dirty="0"/>
              <a:t>(Trade-off) </a:t>
            </a:r>
            <a:r>
              <a:rPr lang="ko-KR" altLang="en-US" b="1" dirty="0"/>
              <a:t>관계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 둘의 </a:t>
            </a:r>
            <a:r>
              <a:rPr lang="ko-KR" altLang="en-US" b="1" dirty="0"/>
              <a:t>조화평균</a:t>
            </a:r>
            <a:r>
              <a:rPr lang="ko-KR" altLang="en-US" dirty="0"/>
              <a:t>인 </a:t>
            </a:r>
            <a:r>
              <a:rPr lang="en-US" altLang="ko-KR" dirty="0"/>
              <a:t>F1</a:t>
            </a:r>
            <a:r>
              <a:rPr lang="ko-KR" altLang="en-US" dirty="0"/>
              <a:t>값이 가장 높은 지점에서의 </a:t>
            </a:r>
            <a:r>
              <a:rPr lang="en-US" altLang="ko-KR" dirty="0"/>
              <a:t>Confidence </a:t>
            </a:r>
            <a:r>
              <a:rPr lang="ko-KR" altLang="en-US" dirty="0"/>
              <a:t>값이 가장 효율적인 </a:t>
            </a:r>
            <a:r>
              <a:rPr lang="ko-KR" altLang="en-US" dirty="0" err="1"/>
              <a:t>임계값</a:t>
            </a:r>
            <a:endParaRPr lang="ko-KR" altLang="en-US" dirty="0"/>
          </a:p>
        </p:txBody>
      </p:sp>
      <p:sp>
        <p:nvSpPr>
          <p:cNvPr id="8" name="설명선: 선 7">
            <a:extLst>
              <a:ext uri="{FF2B5EF4-FFF2-40B4-BE49-F238E27FC236}">
                <a16:creationId xmlns:a16="http://schemas.microsoft.com/office/drawing/2014/main" id="{C6DDB3B3-9C89-66A6-BB95-A123923641DF}"/>
              </a:ext>
            </a:extLst>
          </p:cNvPr>
          <p:cNvSpPr/>
          <p:nvPr/>
        </p:nvSpPr>
        <p:spPr>
          <a:xfrm>
            <a:off x="6846849" y="133815"/>
            <a:ext cx="3947531" cy="1081668"/>
          </a:xfrm>
          <a:prstGeom prst="borderCallout1">
            <a:avLst>
              <a:gd name="adj1" fmla="val 51740"/>
              <a:gd name="adj2" fmla="val -728"/>
              <a:gd name="adj3" fmla="val 127964"/>
              <a:gd name="adj4" fmla="val -1083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조화평균 </a:t>
            </a:r>
            <a:r>
              <a:rPr lang="en-US" altLang="ko-KR" dirty="0"/>
              <a:t>= </a:t>
            </a:r>
            <a:r>
              <a:rPr lang="ko-KR" altLang="en-US" dirty="0"/>
              <a:t>산술평균</a:t>
            </a:r>
            <a:r>
              <a:rPr lang="en-US" altLang="ko-KR" dirty="0"/>
              <a:t>x </a:t>
            </a:r>
          </a:p>
          <a:p>
            <a:pPr algn="ctr"/>
            <a:br>
              <a:rPr lang="en-US" altLang="ko-KR" dirty="0"/>
            </a:br>
            <a:r>
              <a:rPr lang="ko-KR" altLang="en-US" dirty="0"/>
              <a:t>두 값이 조화롭게 균형일 때 값 </a:t>
            </a:r>
          </a:p>
        </p:txBody>
      </p:sp>
      <p:sp>
        <p:nvSpPr>
          <p:cNvPr id="9" name="화살표: 위쪽 8">
            <a:extLst>
              <a:ext uri="{FF2B5EF4-FFF2-40B4-BE49-F238E27FC236}">
                <a16:creationId xmlns:a16="http://schemas.microsoft.com/office/drawing/2014/main" id="{DFE73E5A-D50E-88FD-1B81-2183877ADA29}"/>
              </a:ext>
            </a:extLst>
          </p:cNvPr>
          <p:cNvSpPr/>
          <p:nvPr/>
        </p:nvSpPr>
        <p:spPr>
          <a:xfrm>
            <a:off x="10437540" y="847495"/>
            <a:ext cx="167267" cy="18131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5398D5-B04E-B663-DD66-B4F266A927EE}"/>
              </a:ext>
            </a:extLst>
          </p:cNvPr>
          <p:cNvSpPr/>
          <p:nvPr/>
        </p:nvSpPr>
        <p:spPr>
          <a:xfrm>
            <a:off x="1884556" y="1527717"/>
            <a:ext cx="947854" cy="3485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0D084-23FD-A509-DEF9-BB1FB7390523}"/>
              </a:ext>
            </a:extLst>
          </p:cNvPr>
          <p:cNvSpPr txBox="1"/>
          <p:nvPr/>
        </p:nvSpPr>
        <p:spPr>
          <a:xfrm>
            <a:off x="2726474" y="4488586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정밀도와 재현율의 두 마리 토끼를 얼마나 잘 붙잡고 있는가</a:t>
            </a:r>
            <a:r>
              <a:rPr lang="en-US" altLang="ko-KR" dirty="0"/>
              <a:t>?"</a:t>
            </a:r>
            <a:r>
              <a:rPr lang="ko-KR" altLang="en-US" dirty="0"/>
              <a:t>를 보여주는 </a:t>
            </a:r>
            <a:r>
              <a:rPr lang="en-US" altLang="ko-KR" dirty="0"/>
              <a:t>‘</a:t>
            </a:r>
            <a:r>
              <a:rPr lang="ko-KR" altLang="en-US" b="1" dirty="0"/>
              <a:t>균형 지수</a:t>
            </a:r>
            <a:r>
              <a:rPr lang="en-US" altLang="ko-KR" b="1" dirty="0"/>
              <a:t>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9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265A1-9C3F-26AF-0490-A1AA8A2F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96815" cy="393157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4. </a:t>
            </a:r>
            <a:r>
              <a:rPr lang="ko-KR" altLang="en-US" sz="2400" b="1" dirty="0"/>
              <a:t>모델의 성능 지표 </a:t>
            </a:r>
            <a:r>
              <a:rPr lang="en-US" altLang="ko-KR" sz="2400" b="1" dirty="0"/>
              <a:t>: </a:t>
            </a:r>
            <a:r>
              <a:rPr lang="en-US" altLang="ko-KR" sz="2400" b="1" dirty="0" err="1"/>
              <a:t>mAP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193940-4C85-C1AC-B0C4-717EDA443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0" y="1427354"/>
            <a:ext cx="10247971" cy="4951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58A0E-0B2E-DDF9-275D-1A088D60847C}"/>
              </a:ext>
            </a:extLst>
          </p:cNvPr>
          <p:cNvSpPr txBox="1"/>
          <p:nvPr/>
        </p:nvSpPr>
        <p:spPr>
          <a:xfrm>
            <a:off x="1579291" y="892095"/>
            <a:ext cx="8539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mAP</a:t>
            </a:r>
            <a:r>
              <a:rPr lang="ko-KR" altLang="en-US" dirty="0"/>
              <a:t>는 각 클래스별로 구한 </a:t>
            </a:r>
            <a:r>
              <a:rPr lang="en-US" altLang="ko-KR" b="1" dirty="0"/>
              <a:t>AP </a:t>
            </a:r>
            <a:r>
              <a:rPr lang="ko-KR" altLang="en-US" b="1" dirty="0"/>
              <a:t>값들을 모두 더한 뒤</a:t>
            </a:r>
            <a:r>
              <a:rPr lang="en-US" altLang="ko-KR" b="1" dirty="0"/>
              <a:t>, </a:t>
            </a:r>
            <a:r>
              <a:rPr lang="ko-KR" altLang="en-US" b="1" dirty="0"/>
              <a:t>클래스 개수로 나눈 값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30B89-C854-644A-ACCF-6819E65CB2D9}"/>
              </a:ext>
            </a:extLst>
          </p:cNvPr>
          <p:cNvSpPr txBox="1"/>
          <p:nvPr/>
        </p:nvSpPr>
        <p:spPr>
          <a:xfrm>
            <a:off x="6597335" y="4582356"/>
            <a:ext cx="3846594" cy="4542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Precision</a:t>
            </a:r>
            <a:r>
              <a:rPr lang="ko-KR" altLang="en-US" dirty="0"/>
              <a:t>만 높다면</a:t>
            </a:r>
            <a:r>
              <a:rPr lang="en-US" altLang="ko-KR" dirty="0"/>
              <a:t>? </a:t>
            </a:r>
            <a:r>
              <a:rPr lang="ko-KR" altLang="en-US" dirty="0" err="1"/>
              <a:t>재현율</a:t>
            </a:r>
            <a:r>
              <a:rPr lang="en-US" altLang="ko-KR" dirty="0"/>
              <a:t> </a:t>
            </a:r>
            <a:r>
              <a:rPr lang="ko-KR" altLang="en-US" dirty="0"/>
              <a:t>값 하락 </a:t>
            </a: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89B00EEB-3F1F-B4EE-C11F-9F766B131789}"/>
              </a:ext>
            </a:extLst>
          </p:cNvPr>
          <p:cNvSpPr/>
          <p:nvPr/>
        </p:nvSpPr>
        <p:spPr>
          <a:xfrm>
            <a:off x="5862753" y="2581312"/>
            <a:ext cx="295508" cy="66573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왼쪽 13">
            <a:extLst>
              <a:ext uri="{FF2B5EF4-FFF2-40B4-BE49-F238E27FC236}">
                <a16:creationId xmlns:a16="http://schemas.microsoft.com/office/drawing/2014/main" id="{230A4A14-A6E3-2A3D-C0FA-1B9A7D380837}"/>
              </a:ext>
            </a:extLst>
          </p:cNvPr>
          <p:cNvSpPr/>
          <p:nvPr/>
        </p:nvSpPr>
        <p:spPr>
          <a:xfrm>
            <a:off x="5673412" y="4701319"/>
            <a:ext cx="778960" cy="26763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553667-D3A5-5B4D-BB12-8D9C2016001D}"/>
              </a:ext>
            </a:extLst>
          </p:cNvPr>
          <p:cNvSpPr txBox="1"/>
          <p:nvPr/>
        </p:nvSpPr>
        <p:spPr>
          <a:xfrm>
            <a:off x="4220736" y="2155269"/>
            <a:ext cx="359627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en-US" altLang="ko-KR" dirty="0"/>
              <a:t>recall</a:t>
            </a:r>
            <a:r>
              <a:rPr lang="ko-KR" altLang="en-US" dirty="0"/>
              <a:t>만 높다면</a:t>
            </a:r>
            <a:r>
              <a:rPr lang="en-US" altLang="ko-KR" dirty="0"/>
              <a:t>? </a:t>
            </a:r>
            <a:r>
              <a:rPr lang="ko-KR" altLang="en-US" dirty="0"/>
              <a:t>정확도가 떨어짐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A822D-2EA7-0BDF-44D3-161027515B50}"/>
              </a:ext>
            </a:extLst>
          </p:cNvPr>
          <p:cNvSpPr txBox="1"/>
          <p:nvPr/>
        </p:nvSpPr>
        <p:spPr>
          <a:xfrm>
            <a:off x="8385712" y="2943924"/>
            <a:ext cx="876183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균형이 최고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28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E8451-BBBD-A85A-0A87-AC8E67FD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5. </a:t>
            </a:r>
            <a:r>
              <a:rPr lang="ko-KR" altLang="en-US" sz="2000" b="1" dirty="0"/>
              <a:t>비교 예시 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실제 학습 발전과정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4252CE-9D5E-D228-BB0C-4D1020030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56" y="1883297"/>
            <a:ext cx="5769630" cy="37880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5127FD-B0DC-9739-7568-46488247C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57" y="1926838"/>
            <a:ext cx="5257399" cy="37880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1561CB-9C52-0534-1DF7-ECA8B713F66C}"/>
              </a:ext>
            </a:extLst>
          </p:cNvPr>
          <p:cNvSpPr txBox="1"/>
          <p:nvPr/>
        </p:nvSpPr>
        <p:spPr>
          <a:xfrm>
            <a:off x="1915885" y="1502229"/>
            <a:ext cx="112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학습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2EE6FA-2C96-2D7C-E9DB-37C8A721DADC}"/>
              </a:ext>
            </a:extLst>
          </p:cNvPr>
          <p:cNvSpPr txBox="1"/>
          <p:nvPr/>
        </p:nvSpPr>
        <p:spPr>
          <a:xfrm>
            <a:off x="7315199" y="1469571"/>
            <a:ext cx="141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최종 학습</a:t>
            </a:r>
          </a:p>
        </p:txBody>
      </p:sp>
    </p:spTree>
    <p:extLst>
      <p:ext uri="{BB962C8B-B14F-4D97-AF65-F5344CB8AC3E}">
        <p14:creationId xmlns:p14="http://schemas.microsoft.com/office/powerpoint/2010/main" val="389179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80E37-15A2-C62D-7FFC-35F88599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6. </a:t>
            </a:r>
            <a:r>
              <a:rPr lang="ko-KR" altLang="en-US" sz="2400" b="1" dirty="0"/>
              <a:t>데이터 판독 및 </a:t>
            </a:r>
            <a:r>
              <a:rPr lang="ko-KR" altLang="en-US" sz="2400" b="1" dirty="0" err="1"/>
              <a:t>임계값</a:t>
            </a:r>
            <a:r>
              <a:rPr lang="ko-KR" altLang="en-US" sz="2400" b="1" dirty="0"/>
              <a:t> 설정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5B618-AFF5-95DE-5F41-B4CF043DA739}"/>
              </a:ext>
            </a:extLst>
          </p:cNvPr>
          <p:cNvSpPr txBox="1"/>
          <p:nvPr/>
        </p:nvSpPr>
        <p:spPr>
          <a:xfrm>
            <a:off x="984094" y="1016064"/>
            <a:ext cx="1065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Confidence Threshold</a:t>
            </a:r>
            <a:r>
              <a:rPr lang="ko-KR" altLang="en-US" sz="1800" b="1" dirty="0"/>
              <a:t>는 </a:t>
            </a:r>
            <a:r>
              <a:rPr lang="en-US" altLang="ko-KR" b="1" dirty="0"/>
              <a:t> </a:t>
            </a:r>
            <a:r>
              <a:rPr lang="ko-KR" altLang="en-US" dirty="0"/>
              <a:t>평균</a:t>
            </a:r>
            <a:r>
              <a:rPr lang="en-US" altLang="ko-KR" dirty="0"/>
              <a:t>"</a:t>
            </a:r>
            <a:r>
              <a:rPr lang="ko-KR" altLang="en-US" dirty="0"/>
              <a:t>의 최적점이지 모든 클래스의 </a:t>
            </a:r>
            <a:r>
              <a:rPr lang="ko-KR" altLang="en-US" dirty="0" err="1"/>
              <a:t>최적점</a:t>
            </a:r>
            <a:r>
              <a:rPr lang="en-US" altLang="ko-KR" dirty="0"/>
              <a:t>x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CDC744-F55D-3911-C5D2-CA2B7B5D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98" y="2142627"/>
            <a:ext cx="5571891" cy="38553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EFCF67-7E93-1414-75C7-15B57A5B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903" y="2190372"/>
            <a:ext cx="5492904" cy="37605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F23B32-1B85-01AD-DFF8-FE9CF35CE0AD}"/>
              </a:ext>
            </a:extLst>
          </p:cNvPr>
          <p:cNvSpPr txBox="1"/>
          <p:nvPr/>
        </p:nvSpPr>
        <p:spPr>
          <a:xfrm>
            <a:off x="777266" y="152797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나아가기 </a:t>
            </a:r>
            <a:r>
              <a:rPr lang="en-US" altLang="ko-KR" dirty="0"/>
              <a:t>: </a:t>
            </a:r>
            <a:r>
              <a:rPr lang="ko-KR" altLang="en-US" dirty="0"/>
              <a:t>해양 순찰 </a:t>
            </a:r>
            <a:r>
              <a:rPr lang="ko-KR" altLang="en-US" dirty="0" err="1"/>
              <a:t>드론의</a:t>
            </a:r>
            <a:r>
              <a:rPr lang="ko-KR" altLang="en-US" dirty="0"/>
              <a:t> 경우 조난자를 탐지하는 것이 제 </a:t>
            </a:r>
            <a:r>
              <a:rPr lang="en-US" altLang="ko-KR" dirty="0"/>
              <a:t>1</a:t>
            </a:r>
            <a:r>
              <a:rPr lang="ko-KR" altLang="en-US" dirty="0"/>
              <a:t>의 목표 </a:t>
            </a:r>
            <a:r>
              <a:rPr lang="en-US" altLang="ko-KR" dirty="0"/>
              <a:t>-&gt; </a:t>
            </a:r>
            <a:r>
              <a:rPr lang="ko-KR" altLang="en-US" dirty="0"/>
              <a:t> 조난자 </a:t>
            </a:r>
            <a:r>
              <a:rPr lang="en-US" altLang="ko-KR" dirty="0"/>
              <a:t>threshold</a:t>
            </a:r>
            <a:r>
              <a:rPr lang="ko-KR" altLang="en-US" dirty="0"/>
              <a:t>를 우선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F22E24-DFB3-5FCF-CC7A-DB3982F035B0}"/>
              </a:ext>
            </a:extLst>
          </p:cNvPr>
          <p:cNvSpPr txBox="1"/>
          <p:nvPr/>
        </p:nvSpPr>
        <p:spPr>
          <a:xfrm>
            <a:off x="478442" y="6041531"/>
            <a:ext cx="4309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Confidence Threshold </a:t>
            </a:r>
            <a:r>
              <a:rPr lang="ko-KR" altLang="en-US" sz="1800" b="1" dirty="0"/>
              <a:t>값 </a:t>
            </a:r>
            <a:r>
              <a:rPr lang="ko-KR" altLang="en-US" b="1" dirty="0"/>
              <a:t>도출</a:t>
            </a:r>
            <a:r>
              <a:rPr lang="en-US" altLang="ko-KR" b="1" dirty="0"/>
              <a:t>(</a:t>
            </a:r>
            <a:r>
              <a:rPr lang="ko-KR" altLang="en-US" b="1" dirty="0"/>
              <a:t>봉우리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2F8F4-D945-6E57-DFF1-A4A9FA4D142D}"/>
              </a:ext>
            </a:extLst>
          </p:cNvPr>
          <p:cNvSpPr txBox="1"/>
          <p:nvPr/>
        </p:nvSpPr>
        <p:spPr>
          <a:xfrm>
            <a:off x="6704271" y="5950942"/>
            <a:ext cx="368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</a:t>
            </a:r>
            <a:r>
              <a:rPr lang="en-US" altLang="ko-KR" b="1" dirty="0" err="1"/>
              <a:t>mAP</a:t>
            </a:r>
            <a:r>
              <a:rPr lang="en-US" altLang="ko-KR" dirty="0"/>
              <a:t> </a:t>
            </a:r>
            <a:r>
              <a:rPr lang="ko-KR" altLang="en-US" dirty="0"/>
              <a:t>성능 분석</a:t>
            </a:r>
            <a:r>
              <a:rPr lang="en-US" altLang="ko-KR" dirty="0"/>
              <a:t>(</a:t>
            </a:r>
            <a:r>
              <a:rPr lang="ko-KR" altLang="en-US" dirty="0"/>
              <a:t>면적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D2309-F21D-6BD8-3F63-C54C9DF1F18C}"/>
              </a:ext>
            </a:extLst>
          </p:cNvPr>
          <p:cNvSpPr txBox="1"/>
          <p:nvPr/>
        </p:nvSpPr>
        <p:spPr>
          <a:xfrm>
            <a:off x="4787589" y="3820885"/>
            <a:ext cx="12192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파란 실선이 평균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7E09ECD-B3F0-3ABA-7536-FA543F65067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799114" y="4144051"/>
            <a:ext cx="988475" cy="221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19355B4-5CF1-BA64-50B6-0C6B050B9865}"/>
              </a:ext>
            </a:extLst>
          </p:cNvPr>
          <p:cNvCxnSpPr>
            <a:cxnSpLocks/>
          </p:cNvCxnSpPr>
          <p:nvPr/>
        </p:nvCxnSpPr>
        <p:spPr>
          <a:xfrm flipV="1">
            <a:off x="6013293" y="3820885"/>
            <a:ext cx="1815823" cy="301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384BBE70-685A-58C0-375A-C16D2FD626F7}"/>
              </a:ext>
            </a:extLst>
          </p:cNvPr>
          <p:cNvSpPr/>
          <p:nvPr/>
        </p:nvSpPr>
        <p:spPr>
          <a:xfrm>
            <a:off x="2754086" y="3037114"/>
            <a:ext cx="195943" cy="2286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3F3DC9-5579-8DB3-34AE-30800AE24D75}"/>
              </a:ext>
            </a:extLst>
          </p:cNvPr>
          <p:cNvSpPr txBox="1"/>
          <p:nvPr/>
        </p:nvSpPr>
        <p:spPr>
          <a:xfrm>
            <a:off x="2471056" y="2559704"/>
            <a:ext cx="88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최고점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30924-E4B9-60A0-00A8-7F12B9FD19A2}"/>
              </a:ext>
            </a:extLst>
          </p:cNvPr>
          <p:cNvSpPr txBox="1"/>
          <p:nvPr/>
        </p:nvSpPr>
        <p:spPr>
          <a:xfrm>
            <a:off x="6995264" y="4230675"/>
            <a:ext cx="93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면적</a:t>
            </a:r>
          </a:p>
        </p:txBody>
      </p:sp>
    </p:spTree>
    <p:extLst>
      <p:ext uri="{BB962C8B-B14F-4D97-AF65-F5344CB8AC3E}">
        <p14:creationId xmlns:p14="http://schemas.microsoft.com/office/powerpoint/2010/main" val="370435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5288E-24AC-568C-00D5-E37F7820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7. YOLO </a:t>
            </a:r>
            <a:r>
              <a:rPr lang="ko-KR" altLang="en-US" sz="2400" b="1" dirty="0"/>
              <a:t>학습 방향 </a:t>
            </a:r>
            <a:r>
              <a:rPr lang="en-US" altLang="ko-KR" sz="2400" b="1" dirty="0"/>
              <a:t>2</a:t>
            </a:r>
            <a:r>
              <a:rPr lang="ko-KR" altLang="en-US" sz="2400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101CA-FDAE-F6B3-5414-B1CBEF32F6E7}"/>
              </a:ext>
            </a:extLst>
          </p:cNvPr>
          <p:cNvSpPr txBox="1"/>
          <p:nvPr/>
        </p:nvSpPr>
        <p:spPr>
          <a:xfrm>
            <a:off x="957943" y="1055384"/>
            <a:ext cx="937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Ignored </a:t>
            </a:r>
            <a:r>
              <a:rPr lang="ko-KR" altLang="en-US" dirty="0"/>
              <a:t>클래스 포함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AF642E-141A-5E57-B33A-262FC5474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67711"/>
              </p:ext>
            </p:extLst>
          </p:nvPr>
        </p:nvGraphicFramePr>
        <p:xfrm>
          <a:off x="957943" y="2858469"/>
          <a:ext cx="9209314" cy="1496307"/>
        </p:xfrm>
        <a:graphic>
          <a:graphicData uri="http://schemas.openxmlformats.org/drawingml/2006/table">
            <a:tbl>
              <a:tblPr/>
              <a:tblGrid>
                <a:gridCol w="1883228">
                  <a:extLst>
                    <a:ext uri="{9D8B030D-6E8A-4147-A177-3AD203B41FA5}">
                      <a16:colId xmlns:a16="http://schemas.microsoft.com/office/drawing/2014/main" val="3685537201"/>
                    </a:ext>
                  </a:extLst>
                </a:gridCol>
                <a:gridCol w="3385458">
                  <a:extLst>
                    <a:ext uri="{9D8B030D-6E8A-4147-A177-3AD203B41FA5}">
                      <a16:colId xmlns:a16="http://schemas.microsoft.com/office/drawing/2014/main" val="2126025773"/>
                    </a:ext>
                  </a:extLst>
                </a:gridCol>
                <a:gridCol w="3940628">
                  <a:extLst>
                    <a:ext uri="{9D8B030D-6E8A-4147-A177-3AD203B41FA5}">
                      <a16:colId xmlns:a16="http://schemas.microsoft.com/office/drawing/2014/main" val="2645168771"/>
                    </a:ext>
                  </a:extLst>
                </a:gridCol>
              </a:tblGrid>
              <a:tr h="498769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구분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Ignored </a:t>
                      </a:r>
                      <a:r>
                        <a:rPr lang="ko-KR" altLang="en-US" b="1" dirty="0"/>
                        <a:t>사용 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장점</a:t>
                      </a:r>
                      <a:r>
                        <a:rPr lang="en-US" altLang="ko-KR" b="1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Ignored </a:t>
                      </a:r>
                      <a:r>
                        <a:rPr lang="ko-KR" altLang="en-US" b="1"/>
                        <a:t>남용 </a:t>
                      </a:r>
                      <a:r>
                        <a:rPr lang="en-US" altLang="ko-KR" b="1"/>
                        <a:t>(</a:t>
                      </a:r>
                      <a:r>
                        <a:rPr lang="ko-KR" altLang="en-US" b="1"/>
                        <a:t>단점</a:t>
                      </a:r>
                      <a:r>
                        <a:rPr lang="en-US" altLang="ko-KR" b="1"/>
                        <a:t>)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466632"/>
                  </a:ext>
                </a:extLst>
              </a:tr>
              <a:tr h="498769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모델의 태도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명확한 물체에만 집중함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모호한 물체를 무시하는 습관이 생김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666757"/>
                  </a:ext>
                </a:extLst>
              </a:tr>
              <a:tr h="498769"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/>
                        <a:t>성능 영향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오탐지</a:t>
                      </a:r>
                      <a:r>
                        <a:rPr lang="ko-KR" altLang="en-US" dirty="0"/>
                        <a:t> 감소로 정확도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실제 물체를 놓치는 미탐지율 상승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644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334586-B1A5-2B72-B1D1-F0DBAC10042F}"/>
              </a:ext>
            </a:extLst>
          </p:cNvPr>
          <p:cNvSpPr txBox="1"/>
          <p:nvPr/>
        </p:nvSpPr>
        <p:spPr>
          <a:xfrm>
            <a:off x="1197429" y="55956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조난자의 형태</a:t>
            </a:r>
            <a:r>
              <a:rPr lang="en-US" altLang="ko-KR" dirty="0"/>
              <a:t>'</a:t>
            </a:r>
            <a:r>
              <a:rPr lang="ko-KR" altLang="en-US" dirty="0"/>
              <a:t>와 유사한 자연물 주의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BFC8A58-37BD-B68A-C135-BC0113FAE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29" y="5149598"/>
            <a:ext cx="38908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일부라도 보이는 조난 대상은 절대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09325-5BA7-27F1-4CE4-56C593F01AF3}"/>
              </a:ext>
            </a:extLst>
          </p:cNvPr>
          <p:cNvSpPr txBox="1"/>
          <p:nvPr/>
        </p:nvSpPr>
        <p:spPr>
          <a:xfrm>
            <a:off x="1115122" y="4616605"/>
            <a:ext cx="1092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유의점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B218952-6D18-9B69-EB1E-5910F945A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43" y="1707721"/>
            <a:ext cx="9382697" cy="871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물체는 학습에 반영하지 마“</a:t>
            </a:r>
            <a:endParaRPr lang="en-US" altLang="ko-K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(학습 데이터의 클래스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라벨링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ignore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태그를 붙이거나, 특정 영역을 무시하도록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마스킹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5D8E0A79-15A1-861F-19E0-07081D9F3620}"/>
              </a:ext>
            </a:extLst>
          </p:cNvPr>
          <p:cNvSpPr/>
          <p:nvPr/>
        </p:nvSpPr>
        <p:spPr>
          <a:xfrm>
            <a:off x="2196790" y="1986883"/>
            <a:ext cx="13381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E9A65-CEC7-EB9D-EFA7-A289A0FD54D4}"/>
              </a:ext>
            </a:extLst>
          </p:cNvPr>
          <p:cNvSpPr txBox="1"/>
          <p:nvPr/>
        </p:nvSpPr>
        <p:spPr>
          <a:xfrm>
            <a:off x="5820937" y="1788894"/>
            <a:ext cx="337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Ex) </a:t>
            </a:r>
            <a:r>
              <a:rPr lang="ko-KR" altLang="en-US" dirty="0"/>
              <a:t>해양쓰레기</a:t>
            </a:r>
            <a:r>
              <a:rPr lang="en-US" altLang="ko-KR" dirty="0"/>
              <a:t>, </a:t>
            </a:r>
            <a:r>
              <a:rPr lang="ko-KR" altLang="en-US" dirty="0"/>
              <a:t>암석 파도 등등</a:t>
            </a:r>
          </a:p>
        </p:txBody>
      </p:sp>
    </p:spTree>
    <p:extLst>
      <p:ext uri="{BB962C8B-B14F-4D97-AF65-F5344CB8AC3E}">
        <p14:creationId xmlns:p14="http://schemas.microsoft.com/office/powerpoint/2010/main" val="127467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2DEE0-4ADD-CE13-56A9-8619D93E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6182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6. YOLO </a:t>
            </a:r>
            <a:r>
              <a:rPr lang="ko-KR" altLang="en-US" sz="2400" b="1" dirty="0"/>
              <a:t>학습 방향 </a:t>
            </a:r>
            <a:r>
              <a:rPr lang="en-US" altLang="ko-KR" sz="2400" b="1" dirty="0"/>
              <a:t>2</a:t>
            </a:r>
            <a:r>
              <a:rPr lang="en-US" altLang="ko-KR" sz="2400" dirty="0"/>
              <a:t>  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47DCC-7CA9-76A1-66CF-D5887074BF84}"/>
              </a:ext>
            </a:extLst>
          </p:cNvPr>
          <p:cNvSpPr txBox="1"/>
          <p:nvPr/>
        </p:nvSpPr>
        <p:spPr>
          <a:xfrm>
            <a:off x="446313" y="1067595"/>
            <a:ext cx="5279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초기</a:t>
            </a:r>
            <a:r>
              <a:rPr lang="en-US" altLang="ko-KR" dirty="0"/>
              <a:t> </a:t>
            </a:r>
            <a:r>
              <a:rPr lang="ko-KR" altLang="en-US" dirty="0"/>
              <a:t>클래스 설정 </a:t>
            </a:r>
            <a:endParaRPr lang="en-US" altLang="ko-KR" dirty="0"/>
          </a:p>
          <a:p>
            <a:pPr algn="ctr"/>
            <a:r>
              <a:rPr lang="en-US" altLang="ko-KR" dirty="0"/>
              <a:t>(victim, boat, </a:t>
            </a:r>
            <a:r>
              <a:rPr lang="en-US" altLang="ko-KR" dirty="0" err="1"/>
              <a:t>jetski</a:t>
            </a:r>
            <a:r>
              <a:rPr lang="en-US" altLang="ko-KR" dirty="0"/>
              <a:t>, </a:t>
            </a:r>
            <a:r>
              <a:rPr lang="en-US" altLang="ko-KR" dirty="0" err="1"/>
              <a:t>life_saving_appliances</a:t>
            </a:r>
            <a:r>
              <a:rPr lang="en-US" altLang="ko-KR" dirty="0"/>
              <a:t>, buoy)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BDCA2-9AE1-8D6D-7649-DC8B1438F031}"/>
              </a:ext>
            </a:extLst>
          </p:cNvPr>
          <p:cNvSpPr txBox="1"/>
          <p:nvPr/>
        </p:nvSpPr>
        <p:spPr>
          <a:xfrm>
            <a:off x="6215743" y="1013966"/>
            <a:ext cx="526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최종</a:t>
            </a:r>
            <a:r>
              <a:rPr lang="en-US" altLang="ko-KR" dirty="0"/>
              <a:t> </a:t>
            </a:r>
            <a:r>
              <a:rPr lang="ko-KR" altLang="en-US" dirty="0"/>
              <a:t>클래스 설정 </a:t>
            </a:r>
            <a:endParaRPr lang="en-US" altLang="ko-KR" dirty="0"/>
          </a:p>
          <a:p>
            <a:pPr algn="ctr"/>
            <a:r>
              <a:rPr lang="en-US" altLang="ko-KR" dirty="0"/>
              <a:t>(victim, boat, </a:t>
            </a:r>
            <a:r>
              <a:rPr lang="en-US" altLang="ko-KR" dirty="0" err="1"/>
              <a:t>jetski</a:t>
            </a:r>
            <a:r>
              <a:rPr lang="en-US" altLang="ko-KR" dirty="0"/>
              <a:t>, buoy) </a:t>
            </a:r>
            <a:r>
              <a:rPr lang="ko-KR" altLang="en-US" dirty="0"/>
              <a:t>확정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6A0AAF-4CC6-9966-B755-9F5876BF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4" y="1763112"/>
            <a:ext cx="5769429" cy="43064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74FD85D-83A5-03C1-BF54-02210F9AF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752224"/>
            <a:ext cx="5344886" cy="430644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D258F3-DCC9-7093-53F3-9B3842E66481}"/>
              </a:ext>
            </a:extLst>
          </p:cNvPr>
          <p:cNvSpPr/>
          <p:nvPr/>
        </p:nvSpPr>
        <p:spPr>
          <a:xfrm>
            <a:off x="3309255" y="3505200"/>
            <a:ext cx="500742" cy="47897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5BE35B-C9D4-A65D-3EE3-03D3AC254ACC}"/>
              </a:ext>
            </a:extLst>
          </p:cNvPr>
          <p:cNvSpPr txBox="1"/>
          <p:nvPr/>
        </p:nvSpPr>
        <p:spPr>
          <a:xfrm>
            <a:off x="3722912" y="5513275"/>
            <a:ext cx="573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중앙 대각선에 위치하며 색깔이 진할 수록 잘 학습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A68A9F-D4C7-6CEE-A2E8-FEE35627C2FA}"/>
              </a:ext>
            </a:extLst>
          </p:cNvPr>
          <p:cNvSpPr/>
          <p:nvPr/>
        </p:nvSpPr>
        <p:spPr>
          <a:xfrm>
            <a:off x="3320143" y="4506686"/>
            <a:ext cx="500742" cy="4789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4CE6388-CBC4-C8DA-0D2B-5AB2DF05B975}"/>
              </a:ext>
            </a:extLst>
          </p:cNvPr>
          <p:cNvCxnSpPr>
            <a:cxnSpLocks/>
          </p:cNvCxnSpPr>
          <p:nvPr/>
        </p:nvCxnSpPr>
        <p:spPr>
          <a:xfrm>
            <a:off x="2177143" y="1905002"/>
            <a:ext cx="2514600" cy="29173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0217E2-46F6-164E-0405-7675C07B0597}"/>
              </a:ext>
            </a:extLst>
          </p:cNvPr>
          <p:cNvSpPr txBox="1"/>
          <p:nvPr/>
        </p:nvSpPr>
        <p:spPr>
          <a:xfrm>
            <a:off x="1012365" y="3837258"/>
            <a:ext cx="1730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구명장비는 </a:t>
            </a:r>
            <a:r>
              <a:rPr lang="en-US" altLang="ko-KR" dirty="0"/>
              <a:t>50%</a:t>
            </a:r>
            <a:r>
              <a:rPr lang="ko-KR" altLang="en-US" dirty="0"/>
              <a:t>의 확률로 배경으로 지정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0E4F61E2-F0DF-71AC-33DD-4160B477C604}"/>
              </a:ext>
            </a:extLst>
          </p:cNvPr>
          <p:cNvSpPr/>
          <p:nvPr/>
        </p:nvSpPr>
        <p:spPr>
          <a:xfrm>
            <a:off x="5769432" y="3363687"/>
            <a:ext cx="685800" cy="44631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FC17D0-04A4-4E74-22E8-D007EFAC2AED}"/>
              </a:ext>
            </a:extLst>
          </p:cNvPr>
          <p:cNvSpPr txBox="1"/>
          <p:nvPr/>
        </p:nvSpPr>
        <p:spPr>
          <a:xfrm>
            <a:off x="5627916" y="3951516"/>
            <a:ext cx="903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문제아 제거</a:t>
            </a:r>
          </a:p>
        </p:txBody>
      </p: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8A40DBAB-A09D-F68B-E3A8-F1F24F3D36AA}"/>
              </a:ext>
            </a:extLst>
          </p:cNvPr>
          <p:cNvSpPr/>
          <p:nvPr/>
        </p:nvSpPr>
        <p:spPr>
          <a:xfrm>
            <a:off x="2786741" y="3722914"/>
            <a:ext cx="500742" cy="1148643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468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80530-38D9-EC14-9A4E-171103C1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451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8.</a:t>
            </a:r>
            <a:r>
              <a:rPr lang="ko-KR" altLang="en-US" sz="2400" b="1" dirty="0"/>
              <a:t> 클래스 설정 시 주의사항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5C38CA-1E00-00DE-8B7C-F451A293D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542" y="1238334"/>
            <a:ext cx="9665721" cy="12223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/>
              <a:t>Catastrophic Forgetting (</a:t>
            </a:r>
            <a:r>
              <a:rPr lang="ko-KR" altLang="en-US" sz="2000" b="1" dirty="0"/>
              <a:t>치명적 망각</a:t>
            </a:r>
            <a:r>
              <a:rPr lang="en-US" altLang="ko-KR" sz="2000" b="1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/>
              <a:t>이미 학습된 모델에 새로운 클래스를 추가로 학습시키면</a:t>
            </a:r>
            <a:r>
              <a:rPr lang="en-US" altLang="ko-KR" sz="1800" dirty="0"/>
              <a:t>, </a:t>
            </a:r>
            <a:r>
              <a:rPr lang="ko-KR" altLang="en-US" sz="1800" dirty="0"/>
              <a:t>기존에 잘 인식하던 클래스의 성능이 떨어지거나 아예 인식을</a:t>
            </a:r>
            <a:endParaRPr lang="en-US" altLang="ko-KR" sz="18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/>
              <a:t>못 하게 되는 현상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58063E-C3D3-59C9-7EFA-C236D4DEE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542" y="2550467"/>
            <a:ext cx="9967793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이런 일이 생길까?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기존 학습: [사람, 개] 인식하도록 가중치 조정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새 클래스 추가 학습: [고양이] 데이터만 넣고 계속 학습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가중치가 고양이 인식에 맞게 계속 업데이트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"사람, 개“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를 인식하던 가중치 패턴이 점점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덮어써짐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overwrite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원인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새 클래스만 학습시키면, 오직 "고양이를 잘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맞추는가"만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신경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클래스(사람, 개)에 대한 성능은 </a:t>
            </a:r>
            <a:r>
              <a:rPr lang="ko-KR" altLang="en-US" sz="1600" dirty="0">
                <a:latin typeface="Arial" panose="020B0604020202020204" pitchFamily="34" charset="0"/>
              </a:rPr>
              <a:t>전혀 반영</a:t>
            </a:r>
            <a:r>
              <a:rPr lang="en-US" altLang="ko-KR" sz="1600" dirty="0">
                <a:latin typeface="Arial" panose="020B0604020202020204" pitchFamily="34" charset="0"/>
              </a:rPr>
              <a:t>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C6C62-439E-3815-C75B-762DC9AFC540}"/>
              </a:ext>
            </a:extLst>
          </p:cNvPr>
          <p:cNvSpPr txBox="1"/>
          <p:nvPr/>
        </p:nvSpPr>
        <p:spPr>
          <a:xfrm>
            <a:off x="1059366" y="5905232"/>
            <a:ext cx="9155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클래스를 추가할 때에는 반드시 기존 </a:t>
            </a:r>
            <a:r>
              <a:rPr lang="en-US" altLang="ko-KR" b="1" dirty="0"/>
              <a:t>+</a:t>
            </a:r>
            <a:r>
              <a:rPr lang="ko-KR" altLang="en-US" b="1" dirty="0"/>
              <a:t> 새로운 </a:t>
            </a:r>
            <a:r>
              <a:rPr lang="ko-KR" altLang="en-US" b="1" dirty="0" err="1"/>
              <a:t>라벨링</a:t>
            </a:r>
            <a:r>
              <a:rPr lang="ko-KR" altLang="en-US" b="1" dirty="0"/>
              <a:t> 데이터를 전부 합쳐서 진행</a:t>
            </a:r>
            <a:r>
              <a:rPr lang="en-US" altLang="ko-KR" b="1" dirty="0"/>
              <a:t>!</a:t>
            </a:r>
            <a:r>
              <a:rPr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8542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7A6C0-6935-A4A6-29E5-73DC36B1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Autofit/>
          </a:bodyPr>
          <a:lstStyle/>
          <a:p>
            <a:r>
              <a:rPr lang="en-US" altLang="ko-KR" sz="2400" b="1" dirty="0"/>
              <a:t>9. </a:t>
            </a:r>
            <a:r>
              <a:rPr lang="ko-KR" altLang="en-US" sz="2400" b="1" dirty="0"/>
              <a:t>학습 일지        표로 </a:t>
            </a:r>
            <a:r>
              <a:rPr lang="ko-KR" altLang="en-US" sz="2400" b="1" dirty="0" err="1"/>
              <a:t>만드는게</a:t>
            </a:r>
            <a:r>
              <a:rPr lang="ko-KR" altLang="en-US" sz="2400" b="1" dirty="0"/>
              <a:t> 나을 듯</a:t>
            </a:r>
            <a:r>
              <a:rPr lang="en-US" altLang="ko-KR" sz="2400" b="1" dirty="0"/>
              <a:t>? </a:t>
            </a:r>
            <a:endParaRPr lang="ko-KR" altLang="en-US" sz="24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DD37A-15B3-312B-C9B3-D4688F673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091057" cy="497477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1</a:t>
            </a:r>
            <a:r>
              <a:rPr lang="ko-KR" altLang="en-US" sz="2000" dirty="0"/>
              <a:t>차 기본 데이터셋으로 진행</a:t>
            </a:r>
            <a:r>
              <a:rPr lang="en-US" altLang="ko-KR" sz="2000" dirty="0"/>
              <a:t> </a:t>
            </a:r>
            <a:r>
              <a:rPr lang="en-US" altLang="ko-KR" sz="1800" dirty="0"/>
              <a:t>(class</a:t>
            </a:r>
            <a:r>
              <a:rPr lang="ko-KR" altLang="en-US" sz="1800" dirty="0"/>
              <a:t> 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-US" altLang="ko-KR" sz="1800" dirty="0" err="1"/>
              <a:t>life_saving_appliances</a:t>
            </a:r>
            <a:r>
              <a:rPr lang="en-US" altLang="ko-KR" sz="1800" dirty="0"/>
              <a:t> </a:t>
            </a:r>
            <a:r>
              <a:rPr lang="ko-KR" altLang="en-US" sz="1800" dirty="0"/>
              <a:t>학습 저조</a:t>
            </a:r>
            <a:r>
              <a:rPr lang="en-US" altLang="ko-KR" sz="1800" dirty="0"/>
              <a:t>)  </a:t>
            </a:r>
            <a:r>
              <a:rPr lang="en-US" altLang="ko-KR" sz="1800" b="1" dirty="0">
                <a:highlight>
                  <a:srgbClr val="FF0000"/>
                </a:highlight>
              </a:rPr>
              <a:t>map 0.65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2</a:t>
            </a:r>
            <a:r>
              <a:rPr lang="ko-KR" altLang="en-US" sz="2000" dirty="0"/>
              <a:t>차 해상도를 </a:t>
            </a:r>
            <a:r>
              <a:rPr lang="en-US" altLang="ko-KR" sz="2000" b="1" dirty="0"/>
              <a:t>640-&gt;1280</a:t>
            </a:r>
            <a:r>
              <a:rPr lang="ko-KR" altLang="en-US" sz="2000" dirty="0"/>
              <a:t>으로 증진</a:t>
            </a:r>
            <a:r>
              <a:rPr lang="en-US" altLang="ko-KR" sz="2000" dirty="0"/>
              <a:t>(</a:t>
            </a:r>
            <a:r>
              <a:rPr lang="ko-KR" altLang="en-US" sz="1600" dirty="0"/>
              <a:t>오히려</a:t>
            </a:r>
            <a:r>
              <a:rPr lang="ko-KR" altLang="en-US" sz="2000" dirty="0"/>
              <a:t> </a:t>
            </a:r>
            <a:r>
              <a:rPr lang="ko-KR" altLang="en-US" sz="1600" dirty="0"/>
              <a:t>학습 성능 하락하여 다시 </a:t>
            </a:r>
            <a:r>
              <a:rPr lang="en-US" altLang="ko-KR" sz="1600" dirty="0"/>
              <a:t>640</a:t>
            </a:r>
            <a:r>
              <a:rPr lang="ko-KR" altLang="en-US" sz="1600" dirty="0"/>
              <a:t>으로 복원</a:t>
            </a:r>
            <a:r>
              <a:rPr lang="en-US" altLang="ko-KR" sz="2000" dirty="0"/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	</a:t>
            </a:r>
            <a:r>
              <a:rPr lang="ko-KR" altLang="en-US" sz="1400" dirty="0"/>
              <a:t>문제점 </a:t>
            </a:r>
            <a:r>
              <a:rPr lang="en-US" altLang="ko-KR" sz="1400" dirty="0"/>
              <a:t>: </a:t>
            </a:r>
            <a:r>
              <a:rPr lang="ko-KR" altLang="en-US" sz="1400" dirty="0"/>
              <a:t>객체의 절대적 픽셀 수는 유지되면서 전체 화면 픽셀 수 증가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훨씬 커진 캔버스에 아주 작은 객체 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3</a:t>
            </a:r>
            <a:r>
              <a:rPr lang="ko-KR" altLang="en-US" sz="2000" dirty="0"/>
              <a:t>차 </a:t>
            </a:r>
            <a:r>
              <a:rPr lang="ko-KR" altLang="en-US" sz="2000" u="sng" dirty="0"/>
              <a:t>객체가 아주 작은 </a:t>
            </a:r>
            <a:r>
              <a:rPr lang="ko-KR" altLang="en-US" sz="2000" dirty="0"/>
              <a:t>데이터 </a:t>
            </a:r>
            <a:r>
              <a:rPr lang="ko-KR" altLang="en-US" sz="2000" dirty="0" err="1"/>
              <a:t>라벨링</a:t>
            </a:r>
            <a:r>
              <a:rPr lang="ko-KR" altLang="en-US" sz="2000" dirty="0"/>
              <a:t> 제거 및 삭제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min_size</a:t>
            </a:r>
            <a:r>
              <a:rPr lang="en-US" altLang="ko-KR" sz="2000" dirty="0"/>
              <a:t> = 0.005)  </a:t>
            </a:r>
            <a:r>
              <a:rPr lang="en-US" altLang="ko-KR" sz="2000" dirty="0">
                <a:highlight>
                  <a:srgbClr val="FF0000"/>
                </a:highlight>
              </a:rPr>
              <a:t>map = 0.7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		   </a:t>
            </a:r>
            <a:r>
              <a:rPr lang="ko-KR" altLang="en-US" sz="1600" dirty="0"/>
              <a:t>이미지 전체 면적 대비 해당 객체가 차지하는 비율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4</a:t>
            </a:r>
            <a:r>
              <a:rPr lang="ko-KR" altLang="en-US" sz="2000" dirty="0"/>
              <a:t>차 더 기준을 완화하여 사진 정제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min_size</a:t>
            </a:r>
            <a:r>
              <a:rPr lang="en-US" altLang="ko-KR" sz="2000" dirty="0"/>
              <a:t> = 0.007)   </a:t>
            </a:r>
            <a:r>
              <a:rPr lang="en-US" altLang="ko-KR" sz="2000" dirty="0">
                <a:highlight>
                  <a:srgbClr val="FF0000"/>
                </a:highlight>
              </a:rPr>
              <a:t>map = 0.75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life_saving</a:t>
            </a:r>
            <a:r>
              <a:rPr lang="en-US" altLang="ko-KR" sz="1600" dirty="0"/>
              <a:t>_ appliances </a:t>
            </a:r>
            <a:r>
              <a:rPr lang="ko-KR" altLang="en-US" sz="1600" dirty="0"/>
              <a:t>학습 일부 개선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5</a:t>
            </a:r>
            <a:r>
              <a:rPr lang="ko-KR" altLang="en-US" sz="2000" dirty="0"/>
              <a:t>차 </a:t>
            </a:r>
            <a:r>
              <a:rPr lang="en-US" altLang="ko-KR" sz="2000" b="1" dirty="0" err="1"/>
              <a:t>life_saving</a:t>
            </a:r>
            <a:r>
              <a:rPr lang="en-US" altLang="ko-KR" sz="2000" b="1" dirty="0"/>
              <a:t>_ appliances </a:t>
            </a:r>
            <a:r>
              <a:rPr lang="ko-KR" altLang="en-US" sz="2000" dirty="0"/>
              <a:t>클래스 제거 </a:t>
            </a:r>
            <a:r>
              <a:rPr lang="en-US" altLang="ko-KR" sz="2000" dirty="0"/>
              <a:t>()   </a:t>
            </a:r>
            <a:r>
              <a:rPr lang="en-US" altLang="ko-KR" sz="2000" dirty="0">
                <a:highlight>
                  <a:srgbClr val="FF0000"/>
                </a:highlight>
              </a:rPr>
              <a:t>map 0.86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6</a:t>
            </a:r>
            <a:r>
              <a:rPr lang="ko-KR" altLang="en-US" sz="2000" dirty="0"/>
              <a:t>차 </a:t>
            </a:r>
            <a:r>
              <a:rPr lang="en-US" altLang="ko-KR" sz="2000" dirty="0"/>
              <a:t>degree = 10 (</a:t>
            </a:r>
            <a:r>
              <a:rPr lang="ko-KR" altLang="en-US" sz="2000" dirty="0"/>
              <a:t>기울기</a:t>
            </a:r>
            <a:r>
              <a:rPr lang="en-US" altLang="ko-KR" sz="2000" dirty="0"/>
              <a:t>), perspective=0.001) , </a:t>
            </a:r>
            <a:r>
              <a:rPr lang="ko-KR" altLang="en-US" sz="2000" dirty="0"/>
              <a:t>원근 변환</a:t>
            </a:r>
            <a:r>
              <a:rPr lang="en-US" altLang="ko-KR" sz="2000" dirty="0"/>
              <a:t>(Perspective Transform) </a:t>
            </a:r>
            <a:r>
              <a:rPr lang="ko-KR" altLang="en-US" sz="2000" dirty="0"/>
              <a:t>강도 설정 등 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/>
              <a:t>   </a:t>
            </a:r>
            <a:r>
              <a:rPr lang="ko-KR" altLang="en-US" sz="2000" b="1" dirty="0"/>
              <a:t>증강효과</a:t>
            </a:r>
            <a:r>
              <a:rPr lang="ko-KR" altLang="en-US" sz="2000" dirty="0"/>
              <a:t> 대입  </a:t>
            </a:r>
            <a:r>
              <a:rPr lang="en-US" altLang="ko-KR" sz="2000" dirty="0">
                <a:highlight>
                  <a:srgbClr val="FF0000"/>
                </a:highlight>
              </a:rPr>
              <a:t>map 0.82</a:t>
            </a:r>
            <a:endParaRPr lang="ko-KR" altLang="en-US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7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에포크값</a:t>
            </a:r>
            <a:r>
              <a:rPr lang="ko-KR" altLang="en-US" sz="2000" dirty="0"/>
              <a:t> </a:t>
            </a:r>
            <a:r>
              <a:rPr lang="en-US" altLang="ko-KR" sz="2000" dirty="0"/>
              <a:t>70-&gt;120, patience</a:t>
            </a:r>
            <a:r>
              <a:rPr lang="ko-KR" altLang="en-US" sz="2000" dirty="0"/>
              <a:t> 값 </a:t>
            </a:r>
            <a:r>
              <a:rPr lang="en-US" altLang="ko-KR" sz="2000" dirty="0"/>
              <a:t>45-&gt;90 </a:t>
            </a:r>
            <a:r>
              <a:rPr lang="ko-KR" altLang="en-US" sz="2000" dirty="0"/>
              <a:t>으로 학습량 올림 </a:t>
            </a:r>
            <a:r>
              <a:rPr lang="en-US" altLang="ko-KR" sz="2000" dirty="0">
                <a:highlight>
                  <a:srgbClr val="FF0000"/>
                </a:highlight>
              </a:rPr>
              <a:t>map 0.84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5668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885</Words>
  <Application>Microsoft Office PowerPoint</Application>
  <PresentationFormat>와이드스크린</PresentationFormat>
  <Paragraphs>114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 Unicode MS</vt:lpstr>
      <vt:lpstr>맑은 고딕</vt:lpstr>
      <vt:lpstr>Arial</vt:lpstr>
      <vt:lpstr>Office 테마</vt:lpstr>
      <vt:lpstr>PowerPoint 프레젠테이션</vt:lpstr>
      <vt:lpstr>2. 정확도와 재현율 그리고 Confidence Threshold 과의 관계</vt:lpstr>
      <vt:lpstr>3. 최적의 균형점 찾기</vt:lpstr>
      <vt:lpstr>4. 모델의 성능 지표 : mAP</vt:lpstr>
      <vt:lpstr>5. 비교 예시 (실제 학습 발전과정)</vt:lpstr>
      <vt:lpstr>6. 데이터 판독 및 임계값 설정 </vt:lpstr>
      <vt:lpstr>7. YOLO 학습 방향 2 </vt:lpstr>
      <vt:lpstr>6. YOLO 학습 방향 2  </vt:lpstr>
      <vt:lpstr>8. 클래스 설정 시 주의사항</vt:lpstr>
      <vt:lpstr>9. 학습 일지        표로 만드는게 나을 듯?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17</cp:revision>
  <dcterms:created xsi:type="dcterms:W3CDTF">2026-07-07T05:47:39Z</dcterms:created>
  <dcterms:modified xsi:type="dcterms:W3CDTF">2026-07-08T00:41:26Z</dcterms:modified>
</cp:coreProperties>
</file>